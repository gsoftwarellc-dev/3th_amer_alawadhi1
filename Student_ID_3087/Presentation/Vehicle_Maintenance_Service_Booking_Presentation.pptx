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7A00"/>
                </a:solidFill>
                <a:latin typeface="Calibri"/>
              </a:rPr>
              <a:t>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Vehicle Maintenance Service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Booking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F2FB"/>
                </a:solidFill>
                <a:latin typeface="Calibri"/>
              </a:rPr>
              <a:t>A database-driven web application for a small vehicle service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B3D6"/>
                </a:solidFill>
                <a:latin typeface="Calibri"/>
              </a:rPr>
              <a:t>Student: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Amer Alawadhi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B3D6"/>
                </a:solidFill>
                <a:latin typeface="Calibri"/>
              </a:rPr>
              <a:t>Student ID: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138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3087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32A31"/>
                </a:solidFill>
                <a:latin typeface="Calibri"/>
              </a:rPr>
              <a:t>A small vehicle service center needs a web application to manage customer vehicles, maintenance bookings, and service records — helping staff track service requests and update service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3D66"/>
                </a:solidFill>
                <a:latin typeface="Calibri"/>
              </a:rPr>
              <a:t>Actors /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Service center admin / staff — manage bookings, update statuses, view reports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Mechanic — updates booking status as work progresses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Customer — registers a profile, registers vehicles, books services, reviews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237744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7A00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6B76"/>
                </a:solidFill>
                <a:latin typeface="Calibri"/>
              </a:rPr>
              <a:t>Web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554480"/>
            <a:ext cx="237744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190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7A0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6B76"/>
                </a:solidFill>
                <a:latin typeface="Calibri"/>
              </a:rPr>
              <a:t>Database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154680"/>
            <a:ext cx="237744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92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7A00"/>
                </a:solidFill>
                <a:latin typeface="Calibri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6B76"/>
                </a:solidFill>
                <a:latin typeface="Calibri"/>
              </a:rPr>
              <a:t>Stored Procedures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154680"/>
            <a:ext cx="237744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3192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7A0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F6B76"/>
                </a:solidFill>
                <a:latin typeface="Calibri"/>
              </a:rP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7498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3D66"/>
                </a:solidFill>
                <a:latin typeface="Calibri"/>
              </a:rPr>
              <a:t>Back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647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32A31"/>
                </a:solidFill>
                <a:latin typeface="Calibri"/>
              </a:rPr>
              <a:t>C# / ASP.NET Core MVC (.NET 8)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50008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3D66"/>
                </a:solidFill>
                <a:latin typeface="Calibri"/>
              </a:rPr>
              <a:t>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32A31"/>
                </a:solidFill>
                <a:latin typeface="Calibri"/>
              </a:rPr>
              <a:t>Razor views (HTML5), external CSS3, vanilla JavaScript (ES6)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99816"/>
            <a:ext cx="11064240" cy="7498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64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3D66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64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32A31"/>
                </a:solidFill>
                <a:latin typeface="Calibri"/>
              </a:rPr>
              <a:t>Microsoft SQL Server 2022 (containerized via Docker)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9624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142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3D66"/>
                </a:solidFill>
                <a:latin typeface="Calibri"/>
              </a:rPr>
              <a:t>Data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142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32A31"/>
                </a:solidFill>
                <a:latin typeface="Calibri"/>
              </a:rPr>
              <a:t>ADO.NET (Microsoft.Data.SqlClient) with parameterized stored procedures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1064240" cy="7498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3D66"/>
                </a:solidFill>
                <a:latin typeface="Calibri"/>
              </a:rPr>
              <a:t>Dev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7640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32A31"/>
                </a:solidFill>
                <a:latin typeface="Calibri"/>
              </a:rPr>
              <a:t>Visual Studio Code, .NET CLI, Docker / Colima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64240" cy="731520"/>
          </a:xfrm>
          <a:prstGeom prst="roundRect">
            <a:avLst/>
          </a:prstGeom>
          <a:solidFill>
            <a:srgbClr val="FFF4E5"/>
          </a:solidFill>
          <a:ln>
            <a:solidFill>
              <a:srgbClr val="FFD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4400"/>
                </a:solidFill>
                <a:latin typeface="Calibri"/>
              </a:rPr>
              <a:t>ASP.NET Core MVC was used instead of Web Forms — an option explicitly permitted by the assignment — so it could be built, run, and verified end-to-end on macOS.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Database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10896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108960" cy="50292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0008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CustomerID (PK)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FullName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Email (UNIQUE)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Phone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CreatedDate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10896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108960" cy="50292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647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0008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VehicleID (PK)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CustomerID (FK)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PlateNumber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Brand / Model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Year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CreatedDate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91640"/>
            <a:ext cx="310896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691640"/>
            <a:ext cx="3108960" cy="50292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647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ServiceBookings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50008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BookingID (PK)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VehicleID (FK)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ServiceType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BookingDate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Status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32A31"/>
                </a:solidFill>
                <a:latin typeface="Calibri"/>
              </a:rPr>
              <a:t>•  Notes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3200400"/>
            <a:ext cx="777240" cy="0"/>
          </a:xfrm>
          <a:prstGeom prst="bentConnector3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3200400"/>
            <a:ext cx="777240" cy="0"/>
          </a:xfrm>
          <a:prstGeom prst="bentConnector3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28803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7A00"/>
                </a:solidFill>
                <a:latin typeface="Calibri"/>
              </a:rPr>
              <a:t>1 : many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8803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7A00"/>
                </a:solidFill>
                <a:latin typeface="Calibri"/>
              </a:rPr>
              <a:t>1 : many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F6B76"/>
                </a:solidFill>
                <a:latin typeface="Calibri"/>
              </a:rPr>
              <a:t>All foreign keys cascade on delete — removing a customer removes their vehicles and bookings.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3D66"/>
                </a:solidFill>
                <a:latin typeface="Calibri"/>
              </a:rPr>
              <a:t>23 stored procedures cover full CRUD + search + 4 reports — all SQL access is parameterized (no string concatenation).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CRUD Operations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3D66"/>
                </a:solidFill>
                <a:latin typeface="Calibri"/>
              </a:rPr>
              <a:t>CRUD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88720" cy="45720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48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0482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2A31"/>
                </a:solidFill>
                <a:latin typeface="Calibri"/>
              </a:rPr>
              <a:t>Add customers, vehicles, and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7752"/>
            <a:ext cx="1188720" cy="45720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700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6700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2A31"/>
                </a:solidFill>
                <a:latin typeface="Calibri"/>
              </a:rPr>
              <a:t>Display all records with owner/vehicle joins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9544"/>
            <a:ext cx="1188720" cy="45720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91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2A31"/>
                </a:solidFill>
                <a:latin typeface="Calibri"/>
              </a:rPr>
              <a:t>Inline-editable table rows on every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31336"/>
            <a:ext cx="1188720" cy="457200"/>
          </a:xfrm>
          <a:prstGeom prst="round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13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9136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2A31"/>
                </a:solidFill>
                <a:latin typeface="Calibri"/>
              </a:rPr>
              <a:t>Cascading delete with confirm() dialogs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3D66"/>
                </a:solidFill>
                <a:latin typeface="Calibri"/>
              </a:rPr>
              <a:t>Validation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232A31"/>
                </a:solidFill>
                <a:latin typeface="Calibri"/>
              </a:rPr>
              <a:t>•  Email — regular expression, client + server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232A31"/>
                </a:solidFill>
                <a:latin typeface="Calibri"/>
              </a:rPr>
              <a:t>•  Plate number — regex ^[A-Za-z]{1,3}[\s-]?\d{1,6}$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232A31"/>
                </a:solidFill>
                <a:latin typeface="Calibri"/>
              </a:rPr>
              <a:t>•  Vehicle year — 1980 to (current year + 1)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232A31"/>
                </a:solidFill>
                <a:latin typeface="Calibri"/>
              </a:rPr>
              <a:t>•  Booking status — fixed set, DB CHECK constraint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232A31"/>
                </a:solidFill>
                <a:latin typeface="Calibri"/>
              </a:rPr>
              <a:t>•  Server-side validation is authoritative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Home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Hero section introduces the service center and its value proposition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“Get Started” button leads directly into the booking workflow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Full-bleed responsive hero built with Flexbox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90282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Home Page — Guided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“Why Choose Us” cards use a CSS Grid layout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Numbered “How It Works” guide walks first-time visitors through all 4 steps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Designed so a new user always knows what to do next</a:t>
            </a:r>
          </a:p>
        </p:txBody>
      </p:sp>
      <p:pic>
        <p:nvPicPr>
          <p:cNvPr id="6" name="Picture 5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6766559" cy="4590379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Services &amp; Price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Six service types with estimated duration and starting price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Data table demonstrates semantic HTML table markup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Call-to-action banner links straight into the booking page</a:t>
            </a:r>
          </a:p>
        </p:txBody>
      </p:sp>
      <p:pic>
        <p:nvPicPr>
          <p:cNvPr id="6" name="Picture 5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56939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Customer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Step indicator shows progress through the 4-step workflow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Create form + live table of all registered customers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Inline edit (Save) and Delete with confirmation, backed by stored procedures</a:t>
            </a:r>
          </a:p>
        </p:txBody>
      </p:sp>
      <p:pic>
        <p:nvPicPr>
          <p:cNvPr id="6" name="Picture 5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56939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Vehicle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Vehicle linked to an existing customer via a dropdown (foreign key)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Plate number and year validated client-side and server-side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All registered vehicles shown with owner name via SQL join</a:t>
            </a:r>
          </a:p>
        </p:txBody>
      </p:sp>
      <p:pic>
        <p:nvPicPr>
          <p:cNvPr id="6" name="Picture 5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56939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Service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Select vehicle, service type, and date to create a booking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Status badges (Pending / Confirmed / In Progress / Completed) color-coded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Booking status editable inline; Cancel guarded by a confirm() dialog</a:t>
            </a:r>
          </a:p>
        </p:txBody>
      </p:sp>
      <p:pic>
        <p:nvPicPr>
          <p:cNvPr id="6" name="Picture 5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56939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Service History &amp; Reports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Live search/filter by status, date, and plate number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Report 1: Service Bookings by Date — queried via a dedicated stored procedure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Results and reports are database-driven, not hardcoded</a:t>
            </a:r>
          </a:p>
        </p:txBody>
      </p:sp>
      <p:pic>
        <p:nvPicPr>
          <p:cNvPr id="6" name="Picture 5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56939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WALKTHROUGH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Service History &amp; Reports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Report 2: Bookings by Status  •  Report 3: Vehicle Service History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Report 4: Customer Vehicle List — full customer-to-vehicle join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32A31"/>
                </a:solidFill>
                <a:latin typeface="Calibri"/>
              </a:rPr>
              <a:t>•  Four distinct reports satisfy the assignment's reporting requirement</a:t>
            </a:r>
          </a:p>
        </p:txBody>
      </p:sp>
      <p:pic>
        <p:nvPicPr>
          <p:cNvPr id="6" name="Picture 5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656939" cy="4937760"/>
          </a:xfrm>
          <a:prstGeom prst="rect">
            <a:avLst/>
          </a:prstGeom>
          <a:ln w="12700">
            <a:solidFill>
              <a:srgbClr val="D7DE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FRONT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JavaScript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DOM access via getElementById() and querySelectorAll()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Event handling via addEventListener() (input, blur, click)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Regular expressions for email, plate number, and year validation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Selection statements (if/else) and loop statements (for)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DOM manipulation via innerHTML and textContent for live field errors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confirm() dialogs before every destructive action (delete / cancel)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FRONT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CSS &amp; Responsive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Typography &amp; box model — CSS custom properties (:root variables) for a consistent theme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Flexbox — header/nav, hero section, step-by-step guide, filter bar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CSS Grid — service cards, “Why Choose Us” cards, multi-column forms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Float &amp; position — utility classes demonstrated per assignment requirement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>
                <a:solidFill>
                  <a:srgbClr val="232A31"/>
                </a:solidFill>
                <a:latin typeface="Calibri"/>
              </a:rPr>
              <a:t>•  Media queries — two breakpoints (768px, 480px) for tablet/mobile layouts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232A31"/>
                </a:solidFill>
                <a:latin typeface="Calibri"/>
              </a:rPr>
              <a:t>•  dotnet build completes with 0 warnings, 0 errors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232A31"/>
                </a:solidFill>
                <a:latin typeface="Calibri"/>
              </a:rPr>
              <a:t>•  database_script.sql executed against a live SQL Server 2022 container via sqlcmd — verified no errors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232A31"/>
                </a:solidFill>
                <a:latin typeface="Calibri"/>
              </a:rPr>
              <a:t>•  All 6 pages tested via HTTP requests — confirmed 200 OK, correct static assets (CSS/JS/images)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232A31"/>
                </a:solidFill>
                <a:latin typeface="Calibri"/>
              </a:rPr>
              <a:t>•  Live Create → verify-in-database → Delete round trip performed against the Customers table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>
                <a:solidFill>
                  <a:srgbClr val="232A31"/>
                </a:solidFill>
                <a:latin typeface="Calibri"/>
              </a:rPr>
              <a:t>•  Search/filter feature verified to return correctly scoped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7A00"/>
                </a:solidFill>
                <a:latin typeface="Calibri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3D66"/>
                </a:solidFill>
                <a:latin typeface="Calibri"/>
              </a:rPr>
              <a:t>Challenges &amp; Key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50">
                <a:solidFill>
                  <a:srgbClr val="232A31"/>
                </a:solidFill>
                <a:latin typeface="Calibri"/>
              </a:rPr>
              <a:t>•  Framework choice — switched from ASP.NET Web Forms to ASP.NET Core MVC to build and test the app directly on macOS, without needing Windows or Visual Studio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50">
                <a:solidFill>
                  <a:srgbClr val="232A31"/>
                </a:solidFill>
                <a:latin typeface="Calibri"/>
              </a:rPr>
              <a:t>•  Local SQL Server — ran SQL Server 2022 in a Docker container (via Colima) since native SQL Server isn't available on macOS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50">
                <a:solidFill>
                  <a:srgbClr val="232A31"/>
                </a:solidFill>
                <a:latin typeface="Calibri"/>
              </a:rPr>
              <a:t>•  One-command setup — built start.sh to auto-detect and install missing dependencies (Homebrew, Docker, .NET SDK) so the project runs on a fresh machine with a single command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50">
                <a:solidFill>
                  <a:srgbClr val="232A31"/>
                </a:solidFill>
                <a:latin typeface="Calibri"/>
              </a:rPr>
              <a:t>•  Security — every database call uses parameterized stored procedures; no SQL string concatenation anywhere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Vehicle Maintenance Service Booking System — Amer Alawadhi (ID: 3087)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F6B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7A0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A Complete, Verified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Three related database tables with proper keys and constraints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Full CRUD operations backed exclusively by parameterized stored procedures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A multi-page responsive front end built with semantic HTML, CSS, and JavaScript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Client- and server-side validation on every form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Verified to run correctly end-to-end, not just reviewed as static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7A00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